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 seconds</a:t>
            </a:r>
          </a:p>
          <a:p>
            <a:r>
              <a:t>Cilj projekta bio je implementirati solver za kvadratno programiranje i prikazati kako se kroz iteracije približava optimumu. Zato sam numerički algoritam povezao s interaktivnom vizualizacijom.</a:t>
            </a:r>
          </a:p>
          <a:p>
            <a:r>
              <a:t>The motivation statement is original presentation wording, not an attributed quotation.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 seconds</a:t>
            </a:r>
          </a:p>
          <a:p>
            <a:r>
              <a:t>Rješavam konveksni kvadratni problem s linearnim jednakostima i nejednakostima. Matrica Q je pozitivno semidefinitna. Solver koristi C++20 i natID za dense i sparse linearnu algebru.</a:t>
            </a:r>
          </a:p>
          <a:p>
            <a:r>
              <a:t>Source: project proposal and src/InteriorPointSolver.cpp.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 seconds</a:t>
            </a:r>
          </a:p>
          <a:p>
            <a:r>
              <a:t>Osnova je Mehrotra predictor–corrector algoritam. U svakoj iteraciji sastavljam i faktorizujem sparse KKT sistem. Istu faktorizaciju koristim za predictor i corrector, zatim ažuriram varijable i provjeravam residuale. cppipm sam koristio kao konceptualnu referencu.</a:t>
            </a:r>
          </a:p>
          <a:p>
            <a:r>
              <a:t>For inequality-constrained problems; equality-only problems use a direct KKT solve.</a:t>
            </a:r>
          </a:p>
          <a:p>
            <a:r>
              <a:t>References: Nocedal and Wright, Numerical Optimization, 2nd ed., Chapter 16. https://github.com/YimingYAN/cppipm</a:t>
            </a:r>
          </a:p>
          <a:p>
            <a:r>
              <a:t>Implementation: src/InteriorPointSolver.cpp.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 seconds</a:t>
            </a:r>
          </a:p>
          <a:p>
            <a:r>
              <a:t>Rezultat je C++20 solver s interaktivnim prikazom objective funkcije i residuala te poređenjem s dTwin rješenjem. Sada ću pokazati kako to izgleda na konkretnom problemu.</a:t>
            </a:r>
          </a:p>
          <a:p>
            <a:r>
              <a:t>Demo, 2 minutes: 40 s objective animation and display toggles; 35 s residuals and dTwin comparison; 25 s tolerance and Run Again; 20 s select another problem. Keep 30 seconds in reserve for the four-minute slot.</a:t>
            </a:r>
          </a:p>
          <a:p>
            <a:r>
              <a:t>Image: application screenshot supplied by Irfan Hadzic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B91D5C-1DDE-4240-B451-062DF3E1622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A71A7E-3537-43F6-B4DB-22081BD97105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9001F-9413-42A3-BD40-D64C31CA1304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E8B203-E7B3-4279-9AF0-614F23C0DF7F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0763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59B8FF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023BA-5A7B-4A2C-BFDA-AAA11518E63A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107632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Understanding how a solver</a:t>
            </a:r>
          </a:p>
          <a:p>
            <a:pPr>
              <a:defRPr sz="34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reaches the optimum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7AD82C-E452-4E99-B65D-57284D18D905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Implement the method. Make each iteration visible.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38403-9F7F-4936-8E57-42018C3F97F0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Irfan Hadzic   /   20013   /   Numerical Optimization</a:t>
            </a:r>
          </a:p>
        </p:txBody>
      </p:sp>
    </p:spTree>
    <p:extLst>
      <p:ext uri="{BB962C8B-B14F-4D97-AF65-F5344CB8AC3E}">
        <p14:creationId xmlns:p14="http://schemas.microsoft.com/office/powerpoint/2010/main" val="1474303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FE2AEF-E16E-4086-86B8-6E5568332325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Problem formulation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CED9DD-5059-4DA2-99BD-8BF7726BECFE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46CF16-BCEC-43F2-A373-835FB3B7A7D9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63A5DE-2073-406F-AB32-BCC423E9713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9B8FF"/>
                </a:solidFill>
                <a:latin typeface="Arial"/>
                <a:ea typeface="Arial"/>
                <a:cs typeface="Arial"/>
              </a:rPr>
              <a:t>Convex quadratic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94ED1-7529-4905-A941-0B8006A955FE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0287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minₓ   ½ xᵀQx + cᵀx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2161FE-92B4-4DDC-8544-B52B4D97A46D}"/>
              </a:ext>
            </a:extLst>
          </p:cNvPr>
          <p:cNvSpPr>
            <a:spLocks noGrp="1"/>
          </p:cNvSpPr>
          <p:nvPr/>
        </p:nvSpPr>
        <p:spPr>
          <a:xfrm>
            <a:off x="952500" y="3667125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Ax = b                 Gx ≤ 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EBD64-CA7C-4B87-B599-9A6DC6C3AF0C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9B8FF"/>
                </a:solidFill>
                <a:latin typeface="Arial"/>
                <a:ea typeface="Arial"/>
                <a:cs typeface="Arial"/>
              </a:rPr>
              <a:t>Q = Qᵀ ⪰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5E5AF-39EA-4839-B7C0-8762282C5B75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Quadratic objective with linear equality and inequality constraints</a:t>
            </a:r>
          </a:p>
        </p:txBody>
      </p:sp>
    </p:spTree>
    <p:extLst>
      <p:ext uri="{BB962C8B-B14F-4D97-AF65-F5344CB8AC3E}">
        <p14:creationId xmlns:p14="http://schemas.microsoft.com/office/powerpoint/2010/main" val="121972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4D8A173-048C-48E2-945F-7AA6566160B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434CD4-27AC-40C8-93E2-25937B6931F9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69BD63-B31B-44B1-A88A-DD330CB8105B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AB591-81FE-4FFA-B43E-00A3D07755C8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9B8FF"/>
                </a:solidFill>
                <a:latin typeface="Arial"/>
                <a:ea typeface="Arial"/>
                <a:cs typeface="Arial"/>
              </a:rPr>
              <a:t>Mehrotra predictor–corrector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F0977E-C1D8-40E9-BFDD-4BE3E7739174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13AB5-21F9-4A53-86F6-B32A8DB3E3FA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Initialize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E4CD7E-89C2-4149-B7EC-A55CAA0A8E42}"/>
              </a:ext>
            </a:extLst>
          </p:cNvPr>
          <p:cNvSpPr>
            <a:spLocks noGrp="1"/>
          </p:cNvSpPr>
          <p:nvPr/>
        </p:nvSpPr>
        <p:spPr>
          <a:xfrm>
            <a:off x="2628900" y="3105150"/>
            <a:ext cx="200025" cy="190500"/>
          </a:xfrm>
          <a:prstGeom prst="righ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179A37-38D4-446E-8F4E-8B91CB1978FE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4520E-6B03-46EB-9C17-646AEAFA77E7}"/>
              </a:ext>
            </a:extLst>
          </p:cNvPr>
          <p:cNvSpPr>
            <a:spLocks noGrp="1"/>
          </p:cNvSpPr>
          <p:nvPr/>
        </p:nvSpPr>
        <p:spPr>
          <a:xfrm>
            <a:off x="2971800" y="2857500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KKT system</a:t>
            </a:r>
          </a:p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LDLT solve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C5D13DA-A938-44F6-A91C-8BDB4B4B4982}"/>
              </a:ext>
            </a:extLst>
          </p:cNvPr>
          <p:cNvSpPr>
            <a:spLocks noGrp="1"/>
          </p:cNvSpPr>
          <p:nvPr/>
        </p:nvSpPr>
        <p:spPr>
          <a:xfrm>
            <a:off x="4876800" y="3105150"/>
            <a:ext cx="200025" cy="190500"/>
          </a:xfrm>
          <a:prstGeom prst="righ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EE620E-676B-4773-BAD7-2EFD836CB10C}"/>
              </a:ext>
            </a:extLst>
          </p:cNvPr>
          <p:cNvSpPr>
            <a:spLocks noGrp="1"/>
          </p:cNvSpPr>
          <p:nvPr/>
        </p:nvSpPr>
        <p:spPr>
          <a:xfrm>
            <a:off x="51054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A80833-E844-40DA-81F3-0FADFDAA8910}"/>
              </a:ext>
            </a:extLst>
          </p:cNvPr>
          <p:cNvSpPr>
            <a:spLocks noGrp="1"/>
          </p:cNvSpPr>
          <p:nvPr/>
        </p:nvSpPr>
        <p:spPr>
          <a:xfrm>
            <a:off x="5219700" y="2857500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Predictor</a:t>
            </a:r>
          </a:p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&amp; corrector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9C99B2B-8E89-4C02-B91D-24E70C3B870E}"/>
              </a:ext>
            </a:extLst>
          </p:cNvPr>
          <p:cNvSpPr>
            <a:spLocks noGrp="1"/>
          </p:cNvSpPr>
          <p:nvPr/>
        </p:nvSpPr>
        <p:spPr>
          <a:xfrm>
            <a:off x="7124700" y="3105150"/>
            <a:ext cx="200025" cy="190500"/>
          </a:xfrm>
          <a:prstGeom prst="righ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1601CD-C2A4-49B5-AC0E-268F87675421}"/>
              </a:ext>
            </a:extLst>
          </p:cNvPr>
          <p:cNvSpPr>
            <a:spLocks noGrp="1"/>
          </p:cNvSpPr>
          <p:nvPr/>
        </p:nvSpPr>
        <p:spPr>
          <a:xfrm>
            <a:off x="73533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0280FA-FE2D-40C3-BD03-A7011453A1EE}"/>
              </a:ext>
            </a:extLst>
          </p:cNvPr>
          <p:cNvSpPr>
            <a:spLocks noGrp="1"/>
          </p:cNvSpPr>
          <p:nvPr/>
        </p:nvSpPr>
        <p:spPr>
          <a:xfrm>
            <a:off x="7467600" y="2857500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Update</a:t>
            </a:r>
          </a:p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iterate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F5F23D9-C647-41DF-A5E2-1144E6A8B463}"/>
              </a:ext>
            </a:extLst>
          </p:cNvPr>
          <p:cNvSpPr>
            <a:spLocks noGrp="1"/>
          </p:cNvSpPr>
          <p:nvPr/>
        </p:nvSpPr>
        <p:spPr>
          <a:xfrm>
            <a:off x="9372600" y="3105150"/>
            <a:ext cx="200025" cy="190500"/>
          </a:xfrm>
          <a:prstGeom prst="righ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0A1828-B44F-4451-9612-04384A53191E}"/>
              </a:ext>
            </a:extLst>
          </p:cNvPr>
          <p:cNvSpPr>
            <a:spLocks noGrp="1"/>
          </p:cNvSpPr>
          <p:nvPr/>
        </p:nvSpPr>
        <p:spPr>
          <a:xfrm>
            <a:off x="96012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41608E-0769-4B6B-9E8E-214B8623D6FC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Check</a:t>
            </a:r>
          </a:p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convergence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2644E111-A3BF-4AD3-B220-148D4B8488BB}"/>
              </a:ext>
            </a:extLst>
          </p:cNvPr>
          <p:cNvSpPr>
            <a:spLocks noGrp="1"/>
          </p:cNvSpPr>
          <p:nvPr/>
        </p:nvSpPr>
        <p:spPr>
          <a:xfrm>
            <a:off x="10477500" y="3810000"/>
            <a:ext cx="190500" cy="457200"/>
          </a:xfrm>
          <a:prstGeom prst="down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50280611-A030-41DE-8BF2-A50DD4A20A0A}"/>
              </a:ext>
            </a:extLst>
          </p:cNvPr>
          <p:cNvSpPr>
            <a:spLocks noGrp="1"/>
          </p:cNvSpPr>
          <p:nvPr/>
        </p:nvSpPr>
        <p:spPr>
          <a:xfrm>
            <a:off x="3743325" y="4210050"/>
            <a:ext cx="6915150" cy="190500"/>
          </a:xfrm>
          <a:prstGeom prst="lef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02953FEE-CEE6-4C37-969E-44A5A7EA4DA0}"/>
              </a:ext>
            </a:extLst>
          </p:cNvPr>
          <p:cNvSpPr>
            <a:spLocks noGrp="1"/>
          </p:cNvSpPr>
          <p:nvPr/>
        </p:nvSpPr>
        <p:spPr>
          <a:xfrm>
            <a:off x="3695700" y="3810000"/>
            <a:ext cx="190500" cy="457200"/>
          </a:xfrm>
          <a:prstGeom prst="up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031300-9BE6-479F-8141-1C3681F62887}"/>
              </a:ext>
            </a:extLst>
          </p:cNvPr>
          <p:cNvSpPr>
            <a:spLocks noGrp="1"/>
          </p:cNvSpPr>
          <p:nvPr/>
        </p:nvSpPr>
        <p:spPr>
          <a:xfrm>
            <a:off x="4476750" y="4505325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Repeat until scaled KKT residuals ≤ ε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CF7B99-55FD-4519-835D-868AD27C9820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natID sparse LDLT: one factorization, two solves per iteration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69DC97-4047-485A-9FAB-91DBCBD3E9CA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Conceptual reference: cppipm (Y. Yan)</a:t>
            </a:r>
          </a:p>
        </p:txBody>
      </p:sp>
    </p:spTree>
    <p:extLst>
      <p:ext uri="{BB962C8B-B14F-4D97-AF65-F5344CB8AC3E}">
        <p14:creationId xmlns:p14="http://schemas.microsoft.com/office/powerpoint/2010/main" val="5649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4952C2C-C526-4D2E-B674-3F9A547D16BC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Project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673EC8-51B0-48D4-9F55-56C371D9C75E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9A121E-2463-40CD-B6D5-E6BF105419F0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25419" y="1428750"/>
            <a:ext cx="6798787" cy="476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0DAA9C-77B6-4752-B42C-FB5C85E4B5AF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3476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C++20 solver</a:t>
            </a:r>
          </a:p>
          <a:p>
            <a:pPr>
              <a:defRPr sz="24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using natID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56AD27-9F32-433B-AA74-EA1AD1DA5B2F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3476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Interactive objective</a:t>
            </a:r>
          </a:p>
          <a:p>
            <a:pPr>
              <a:defRPr sz="22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residual plots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3C9D4-D5C6-40F8-B2A4-63837F6AA8DB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347662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1" dirty="0" err="1">
                <a:solidFill>
                  <a:srgbClr val="F4F7FA"/>
                </a:solidFill>
                <a:latin typeface="Arial"/>
                <a:ea typeface="Arial"/>
                <a:cs typeface="Arial"/>
              </a:rPr>
              <a:t>dTwin</a:t>
            </a:r>
            <a:r>
              <a:rPr lang="en-US" sz="2250" b="1" dirty="0">
                <a:solidFill>
                  <a:srgbClr val="F4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50" b="1" dirty="0" err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modelSolver</a:t>
            </a:r>
            <a:r>
              <a:rPr lang="en-US" sz="2250" b="1" dirty="0">
                <a:solidFill>
                  <a:srgbClr val="F4F7FA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1" dirty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solution</a:t>
            </a:r>
          </a:p>
          <a:p>
            <a:pPr>
              <a:defRPr sz="22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993107-7CF0-48C0-AE77-DA081F726619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9B8F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3757972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DocSecurity>0</DocSecurity>
  <PresentationFormat>Widescreen</PresentationFormat>
  <Paragraphs>57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Irfan Hadzic</cp:lastModifiedBy>
  <cp:revision>1</cp:revision>
  <dcterms:created xsi:type="dcterms:W3CDTF">2026-09-18T20:00:48Z</dcterms:created>
  <dcterms:modified xsi:type="dcterms:W3CDTF">2026-09-18T20:09:47Z</dcterms:modified>
</cp:coreProperties>
</file>