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 seconds</a:t>
            </a:r>
          </a:p>
          <a:p>
            <a:r>
              <a:t>Cilj projekta bio je implementirati solver za kvadratno programiranje i prikazati kako se kroz iteracije približava optimumu. Zato sam numerički algoritam povezao s interaktivnom vizualizacijom.</a:t>
            </a:r>
          </a:p>
          <a:p>
            <a:r>
              <a:t>The motivation statement is original presentation wording, not an attributed quotation.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seconds</a:t>
            </a:r>
          </a:p>
          <a:p>
            <a:r>
              <a:t>Rješavam konveksni kvadratni problem s linearnim jednakostima i nejednakostima. Matrica Q je pozitivno semidefinitna. Solver koristi C++20 i natID za dense i sparse linearnu algebru.</a:t>
            </a:r>
          </a:p>
          <a:p>
            <a:r>
              <a:t>Source: project proposal and src/InteriorPointSolver.cpp.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seconds</a:t>
            </a:r>
          </a:p>
          <a:p>
            <a:r>
              <a:t>Osnova je Mehrotra predictor–corrector algoritam. U svakoj iteraciji sastavljam i faktorizujem sparse KKT sistem. Istu faktorizaciju koristim za predictor i corrector, zatim ažuriram varijable i provjeravam residuale. cppipm sam koristio kao konceptualnu referencu.</a:t>
            </a:r>
          </a:p>
          <a:p>
            <a:r>
              <a:t>For inequality-constrained problems; equality-only problems use a direct KKT solve.</a:t>
            </a:r>
          </a:p>
          <a:p>
            <a:r>
              <a:t>References: Nocedal and Wright, Numerical Optimization, 2nd ed., Chapter 16. https://github.com/YimingYAN/cppipm</a:t>
            </a:r>
          </a:p>
          <a:p>
            <a:r>
              <a:t>Implementation: src/InteriorPointSolver.cpp.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seconds</a:t>
            </a:r>
          </a:p>
          <a:p>
            <a:r>
              <a:t>Rezultat je C++20 solver s interaktivnim prikazom objective funkcije i residuala te poređenjem s dTwin rješenjem. Sada ću pokazati kako to izgleda na konkretnom problemu.</a:t>
            </a:r>
          </a:p>
          <a:p>
            <a:r>
              <a:t>Demo, 2 minutes: 40 s objective animation and display toggles; 35 s residuals and dTwin comparison; 25 s tolerance and Run Again; 20 s select another problem. Keep 30 seconds in reserve for the four-minute slot.</a:t>
            </a:r>
          </a:p>
          <a:p>
            <a:r>
              <a:t>Image: application screenshot supplied by Irfan Hadzic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EB3FFD-09F7-44CE-9F5F-0AA83C27C98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A090D-4AD0-4996-B9C4-871034D5689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BD71D-AF65-4922-9650-6981FE0F4F54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46DF5-D21C-4B2F-AB5E-9E4D7BE7CCCC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59B8FF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00C0B-27F3-4769-89C5-7D43ADB35696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0763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Understanding how a solver</a:t>
            </a:r>
          </a:p>
          <a:p>
            <a:pPr>
              <a:defRPr sz="34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reaches the optimum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0AA7B-AF1D-4C0C-9721-8EF875180097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Implement the method. Make each iteration visible.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A064A-347B-4B2B-9F5A-8DF52E44D178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Irfan Hadzic   /   20013   /   Numerical Optimization</a:t>
            </a:r>
          </a:p>
        </p:txBody>
      </p:sp>
    </p:spTree>
    <p:extLst>
      <p:ext uri="{BB962C8B-B14F-4D97-AF65-F5344CB8AC3E}">
        <p14:creationId xmlns:p14="http://schemas.microsoft.com/office/powerpoint/2010/main" val="1804970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474A12-6F57-46A2-AD27-EF0924DB6D4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86D6F2-16AF-4485-A9D8-D37445BDAD1B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3A3E5-18E7-4777-A83B-58CF11DA61FA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F30B8-3211-4838-B48E-2294EE355C5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Convex quadratic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99503-44E3-4426-B759-555CB8D23442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minₓ   ½ xᵀQx + cᵀx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DF2C7-4EF1-413C-AAE7-DF9C36230E83}"/>
              </a:ext>
            </a:extLst>
          </p:cNvPr>
          <p:cNvSpPr>
            <a:spLocks noGrp="1"/>
          </p:cNvSpPr>
          <p:nvPr/>
        </p:nvSpPr>
        <p:spPr>
          <a:xfrm>
            <a:off x="952500" y="3667125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Ax = b                 Gx ≤ 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AF5352-4CCE-4F62-8C11-1772F4EF2425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Q = Qᵀ ⪰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4C921-F7DE-47FD-86FB-5C9271E383BB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Quadratic objective with linear equality and inequality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44740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4560F8A-DFF7-4729-BBA4-3F1EEA70BF7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7431B-F74A-4D73-982C-DC12741A9542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3B46C-06FB-4972-B74F-9BE0CB3F9A89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10A02-0425-4586-9332-2350FB658F02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B8FF"/>
                </a:solidFill>
                <a:latin typeface="Arial"/>
                <a:ea typeface="Arial"/>
                <a:cs typeface="Arial"/>
              </a:rPr>
              <a:t>Mehrotra predictor–corrector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502C1-2C8A-49B2-BDE0-16204C5C2A28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8A6E0-602A-43BB-A531-EBF54452E307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Initialize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5D0A6A-6DA4-496B-B1AD-E8C4AFF58D48}"/>
              </a:ext>
            </a:extLst>
          </p:cNvPr>
          <p:cNvSpPr>
            <a:spLocks noGrp="1"/>
          </p:cNvSpPr>
          <p:nvPr/>
        </p:nvSpPr>
        <p:spPr>
          <a:xfrm>
            <a:off x="26289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AF838-6BA4-4FC7-8512-1BC345890E44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972CD-6DFF-4BD8-A1AE-03FD14699B82}"/>
              </a:ext>
            </a:extLst>
          </p:cNvPr>
          <p:cNvSpPr>
            <a:spLocks noGrp="1"/>
          </p:cNvSpPr>
          <p:nvPr/>
        </p:nvSpPr>
        <p:spPr>
          <a:xfrm>
            <a:off x="2971800" y="2754264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Assemble KKT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&amp; factorize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79CC7A6-8872-4EAC-8271-B2F5A59CD55C}"/>
              </a:ext>
            </a:extLst>
          </p:cNvPr>
          <p:cNvSpPr>
            <a:spLocks noGrp="1"/>
          </p:cNvSpPr>
          <p:nvPr/>
        </p:nvSpPr>
        <p:spPr>
          <a:xfrm>
            <a:off x="48768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FEBB3-4C39-4F5B-801F-5B9D3D33B373}"/>
              </a:ext>
            </a:extLst>
          </p:cNvPr>
          <p:cNvSpPr>
            <a:spLocks noGrp="1"/>
          </p:cNvSpPr>
          <p:nvPr/>
        </p:nvSpPr>
        <p:spPr>
          <a:xfrm>
            <a:off x="51054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FDB3E-1D2D-469D-A903-85B4EC4DEC1C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Predictor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&amp; corrector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AC3A458-0971-4ADD-A586-400115464E58}"/>
              </a:ext>
            </a:extLst>
          </p:cNvPr>
          <p:cNvSpPr>
            <a:spLocks noGrp="1"/>
          </p:cNvSpPr>
          <p:nvPr/>
        </p:nvSpPr>
        <p:spPr>
          <a:xfrm>
            <a:off x="71247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3CCEB4-28BF-4B82-BC70-EBF3FFB94402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4D81FD-2CDC-4334-BAB6-C3A46D137120}"/>
              </a:ext>
            </a:extLst>
          </p:cNvPr>
          <p:cNvSpPr>
            <a:spLocks noGrp="1"/>
          </p:cNvSpPr>
          <p:nvPr/>
        </p:nvSpPr>
        <p:spPr>
          <a:xfrm>
            <a:off x="74676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Update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iterate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CD8CA84-15E3-4F63-A48E-892FF9C5CEB3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200025" cy="190500"/>
          </a:xfrm>
          <a:prstGeom prst="righ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4CF454-25A4-4FC5-A1DD-F03B24A10905}"/>
              </a:ext>
            </a:extLst>
          </p:cNvPr>
          <p:cNvSpPr>
            <a:spLocks noGrp="1"/>
          </p:cNvSpPr>
          <p:nvPr/>
        </p:nvSpPr>
        <p:spPr>
          <a:xfrm>
            <a:off x="9601200" y="2667000"/>
            <a:ext cx="1981200" cy="1095375"/>
          </a:xfrm>
          <a:prstGeom prst="rect">
            <a:avLst/>
          </a:prstGeom>
          <a:solidFill>
            <a:srgbClr val="1C2D3E"/>
          </a:solidFill>
          <a:ln w="12383">
            <a:solidFill>
              <a:srgbClr val="59B8FF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A4F831-CD5B-42E9-B6E5-DF10F10C88C9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7621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Check</a:t>
            </a:r>
          </a:p>
          <a:p>
            <a:pPr>
              <a:defRPr sz="19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9268304B-CD33-441D-81EF-9D353D5BD17B}"/>
              </a:ext>
            </a:extLst>
          </p:cNvPr>
          <p:cNvSpPr>
            <a:spLocks noGrp="1"/>
          </p:cNvSpPr>
          <p:nvPr/>
        </p:nvSpPr>
        <p:spPr>
          <a:xfrm>
            <a:off x="10477500" y="3810000"/>
            <a:ext cx="190500" cy="457200"/>
          </a:xfrm>
          <a:prstGeom prst="down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660986F0-2646-4443-83B5-F067204B740E}"/>
              </a:ext>
            </a:extLst>
          </p:cNvPr>
          <p:cNvSpPr>
            <a:spLocks noGrp="1"/>
          </p:cNvSpPr>
          <p:nvPr/>
        </p:nvSpPr>
        <p:spPr>
          <a:xfrm>
            <a:off x="3743325" y="4210050"/>
            <a:ext cx="6915150" cy="190500"/>
          </a:xfrm>
          <a:prstGeom prst="left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B8DEE6C9-D8E3-4615-A5E3-BF8AB0FC163B}"/>
              </a:ext>
            </a:extLst>
          </p:cNvPr>
          <p:cNvSpPr>
            <a:spLocks noGrp="1"/>
          </p:cNvSpPr>
          <p:nvPr/>
        </p:nvSpPr>
        <p:spPr>
          <a:xfrm>
            <a:off x="3695700" y="3810000"/>
            <a:ext cx="190500" cy="457200"/>
          </a:xfrm>
          <a:prstGeom prst="upArrow">
            <a:avLst/>
          </a:prstGeom>
          <a:solidFill>
            <a:srgbClr val="59B8FF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AE2234-FC13-4082-AF1D-58A915F64C0D}"/>
              </a:ext>
            </a:extLst>
          </p:cNvPr>
          <p:cNvSpPr>
            <a:spLocks noGrp="1"/>
          </p:cNvSpPr>
          <p:nvPr/>
        </p:nvSpPr>
        <p:spPr>
          <a:xfrm>
            <a:off x="4476750" y="4505325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Repeat until scaled KKT residuals ≤ ε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8C220C-196F-4EA0-AA77-972CC6FBB3E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natID</a:t>
            </a:r>
            <a:r>
              <a:rPr sz="2100" b="1" dirty="0">
                <a:solidFill>
                  <a:srgbClr val="F4F7FA"/>
                </a:solidFill>
                <a:latin typeface="Arial"/>
                <a:ea typeface="Arial"/>
                <a:cs typeface="Arial"/>
              </a:rPr>
              <a:t> sparse LDLT: one factorization, two solves per iteration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1ED9A4-49E2-434A-A3F2-C7E378279AC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Conceptual reference: cppipm (Y. Yan)</a:t>
            </a:r>
          </a:p>
        </p:txBody>
      </p:sp>
    </p:spTree>
    <p:extLst>
      <p:ext uri="{BB962C8B-B14F-4D97-AF65-F5344CB8AC3E}">
        <p14:creationId xmlns:p14="http://schemas.microsoft.com/office/powerpoint/2010/main" val="197606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38DB4B-ABB3-46DB-9CFA-7FA770259C0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Project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D445C5-F617-401B-B17E-96448AED2552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NatIDQPSolver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8CAE56-5A75-4AC5-85C7-51545EE4CAC3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5C3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C3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25419" y="1428750"/>
            <a:ext cx="6798787" cy="476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905C93-2399-4D55-8DF2-3D71DA8214E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476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C++20 solver</a:t>
            </a:r>
          </a:p>
          <a:p>
            <a:pPr>
              <a:defRPr sz="24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using natID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49F43-3AEB-4ACE-AEBB-A613E562C6EE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3476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Interactive objective</a:t>
            </a:r>
          </a:p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and residual plots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F0BBA-D0DC-48DC-8E2A-69EB7DE1D4BF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3476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dTwin solution</a:t>
            </a:r>
          </a:p>
          <a:p>
            <a:pPr>
              <a:defRPr sz="225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77503-003F-4846-B20E-BB01EA908E33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59B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9B8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5184746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DocSecurity>0</DocSecurity>
  <PresentationFormat>Widescreen</PresentationFormat>
  <Paragraphs>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Irfan Hadzic</cp:lastModifiedBy>
  <cp:revision>1</cp:revision>
  <dcterms:created xsi:type="dcterms:W3CDTF">2026-09-18T19:58:46Z</dcterms:created>
  <dcterms:modified xsi:type="dcterms:W3CDTF">2026-09-18T20:11:49Z</dcterms:modified>
</cp:coreProperties>
</file>